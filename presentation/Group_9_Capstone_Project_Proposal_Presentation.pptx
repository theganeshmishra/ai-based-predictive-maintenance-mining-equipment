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06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6121F">
              <a:alpha val="80000"/>
            </a:srgbClr>
          </a:solidFill>
          <a:ln w="12700">
            <a:solidFill>
              <a:srgbClr val="1612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Learning-Based Predictive Maintenance for Mining Equipment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Multi-Sensor Data and Computer Vision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822960" cy="54864"/>
          </a:xfrm>
          <a:prstGeom prst="rect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40080" y="4663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 Mishra  ·  Lakshya Sharma  ·  Sagar Patel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29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Saskatchewan Polytechnic  ·  September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325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24728"/>
            <a:ext cx="105156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questions, one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1188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of the project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7947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5B2C87"/>
          </a:solidFill>
          <a:ln w="9525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methods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7947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preprocessing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evaluation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4297680"/>
          </a:xfrm>
          <a:prstGeom prst="roundRect">
            <a:avLst>
              <a:gd name="adj" fmla="val 4211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18972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7947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limits &amp; ethics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2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0" cy="4343400"/>
          </a:xfrm>
          <a:prstGeom prst="roundRect">
            <a:avLst>
              <a:gd name="adj" fmla="val 2526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2C2540"/>
          </a:solidFill>
          <a:ln w="12700">
            <a:solidFill>
              <a:srgbClr val="2C25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failures in heavy mining equipment cause downtime, safety risk, repair cost and lost production.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663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move from reactive repairs to data-driven early warning that tells teams when to inspect and what to look for.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1600200"/>
            <a:ext cx="2880360" cy="2057400"/>
          </a:xfrm>
          <a:prstGeom prst="roundRect">
            <a:avLst>
              <a:gd name="adj" fmla="val 5333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conditions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28072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Dust, heat, vibration and heavy load accelerate wear.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41080" y="1600200"/>
            <a:ext cx="2880360" cy="2057400"/>
          </a:xfrm>
          <a:prstGeom prst="roundRect">
            <a:avLst>
              <a:gd name="adj" fmla="val 5333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8745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154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maintenance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28072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start after failure; fixed schedules miss sudden degradation.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577840" y="3840480"/>
            <a:ext cx="2880360" cy="2057400"/>
          </a:xfrm>
          <a:prstGeom prst="roundRect">
            <a:avLst>
              <a:gd name="adj" fmla="val 5333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114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85216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failure events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852160" y="50474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data means high accuracy can still miss failures.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641080" y="3840480"/>
            <a:ext cx="2880360" cy="2057400"/>
          </a:xfrm>
          <a:prstGeom prst="roundRect">
            <a:avLst>
              <a:gd name="adj" fmla="val 5333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41148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540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explanations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915400" y="50474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teams need reasons behind a risk score, not just a number.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27" name="Image 5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RESEARCH SAYS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history reveals degradation before unplanned failure [1].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assets produce vibration, pressure, temperature, alarm and maintenance data [2].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failures make recall and PR-AUC more useful than accuracy.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20528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methods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918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Forest, XGBoost and LightGBM are strong baselines for tabular PdM data [1], [9].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Autoencoders, 1D CNNs and LSTM/GRU capture anomalies and sequences [3].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suits limited-label settings.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21040" y="1874520"/>
            <a:ext cx="685800" cy="68580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0528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vision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2918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attributes a prediction to input features [7].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highlights image regions behind a CNN decision [8].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+ CNN pipelines support visual surface inspection [6].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21" name="Image 3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and our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RESPONDS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77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academic PdM studies rely on small or synthetic datasets.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58568"/>
            <a:ext cx="384048" cy="384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09360" y="1828800"/>
            <a:ext cx="5330952" cy="1234440"/>
          </a:xfrm>
          <a:prstGeom prst="roundRect">
            <a:avLst>
              <a:gd name="adj" fmla="val 8889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58368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real mining-machine sensor data: TiNA, with 38M+ samples, alarms and maintenance events.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77240" y="3611880"/>
            <a:ext cx="594360" cy="5943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7772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840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can hide missed failures when failures are rare.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721608"/>
            <a:ext cx="384048" cy="38404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3291840"/>
            <a:ext cx="5330952" cy="1234440"/>
          </a:xfrm>
          <a:prstGeom prst="roundRect">
            <a:avLst>
              <a:gd name="adj" fmla="val 8889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6583680" y="3474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validation with recall, PR-AUC and explicit false-negative review.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7548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777240" y="5074920"/>
            <a:ext cx="594360" cy="59436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77724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160020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600200" y="5303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teams need reasons, not only risk scores.</a:t>
            </a:r>
            <a:endParaRPr lang="en-US" sz="12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184648"/>
            <a:ext cx="384048" cy="38404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309360" y="4754880"/>
            <a:ext cx="5330952" cy="1234440"/>
          </a:xfrm>
          <a:prstGeom prst="roundRect">
            <a:avLst>
              <a:gd name="adj" fmla="val 8889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6583680" y="4937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for sensor models, Grad-CAM for images, and an alert-then-inspect workflow.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32" name="Imag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0040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PdM focus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99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core AI/ML project on predictive maintenance for mining equipment.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0866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944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ML on TiNA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999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and maintenance-risk models on real mining-machine data [5].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20866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69848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module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99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vs CNN surface-defect detection, used as the inspection step after an alert.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32694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20040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evaluation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239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Leakage-safe, time-based validation with recall, F1, PR-AUC and ROC-AUC.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29768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432694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4944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results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5239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[7] for sensor models and Grad-CAM [8] for image models.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4672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461" y="432694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69848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C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evidence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5239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progress reported to faculty every week of the 12-week plan.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42" name="Image 6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find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2A2338"/>
          </a:solidFill>
          <a:ln w="9525">
            <a:solidFill>
              <a:srgbClr val="2A2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machine-learning methods applied to industrial sensor histories and visual component inspection support earlier, better-prioritized maintenance decisions for heavy mining equipment?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575304" cy="2606040"/>
          </a:xfrm>
          <a:prstGeom prst="roundRect">
            <a:avLst>
              <a:gd name="adj" fmla="val 4211"/>
            </a:avLst>
          </a:prstGeom>
          <a:solidFill>
            <a:srgbClr val="2A2338"/>
          </a:solidFill>
          <a:ln w="9525">
            <a:solidFill>
              <a:srgbClr val="2A2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module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accurately can leakage-safe models trained on TiNA sensor, alarm and maintenance-event data predict maintenance or alarm risk within a future time window?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3474720"/>
            <a:ext cx="3575304" cy="2606040"/>
          </a:xfrm>
          <a:prstGeom prst="roundRect">
            <a:avLst>
              <a:gd name="adj" fmla="val 4211"/>
            </a:avLst>
          </a:prstGeom>
          <a:solidFill>
            <a:srgbClr val="2A2338"/>
          </a:solidFill>
          <a:ln w="9525">
            <a:solidFill>
              <a:srgbClr val="2A2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81144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724144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module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43434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OpenCV-based handcrafted features compare with CNN-based classification for detecting surface defects on industrial drive components?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3474720"/>
            <a:ext cx="3575304" cy="2606040"/>
          </a:xfrm>
          <a:prstGeom prst="roundRect">
            <a:avLst>
              <a:gd name="adj" fmla="val 4211"/>
            </a:avLst>
          </a:prstGeom>
          <a:solidFill>
            <a:srgbClr val="2A2338"/>
          </a:solidFill>
          <a:ln w="9525">
            <a:solidFill>
              <a:srgbClr val="2A23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39328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482328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43434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 sets and model families best balance recall, false-alarm control, interpretability and feasibility within 12 weeks?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9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9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47288" y="1572768"/>
            <a:ext cx="2700528" cy="329184"/>
          </a:xfrm>
          <a:prstGeom prst="rect">
            <a:avLst/>
          </a:prstGeom>
          <a:solidFill>
            <a:srgbClr val="E6DBF2"/>
          </a:solidFill>
          <a:ln w="12700">
            <a:solidFill>
              <a:srgbClr val="E6DB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429000" y="1572768"/>
            <a:ext cx="2737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Data &amp;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84392" y="1572768"/>
            <a:ext cx="3384804" cy="329184"/>
          </a:xfrm>
          <a:prstGeom prst="rect">
            <a:avLst/>
          </a:prstGeom>
          <a:solidFill>
            <a:srgbClr val="FBE3C6"/>
          </a:solidFill>
          <a:ln w="12700">
            <a:solidFill>
              <a:srgbClr val="FBE3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166104" y="1572768"/>
            <a:ext cx="3421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Sensor ML + vision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5772" y="1572768"/>
            <a:ext cx="2016252" cy="329184"/>
          </a:xfrm>
          <a:prstGeom prst="rect">
            <a:avLst/>
          </a:prstGeom>
          <a:solidFill>
            <a:srgbClr val="D9D4E0"/>
          </a:solidFill>
          <a:ln w="12700">
            <a:solidFill>
              <a:srgbClr val="D9D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9587484" y="1572768"/>
            <a:ext cx="20528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Explain &amp; finalize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13276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97552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1828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66104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0380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34656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18932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03208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87484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271760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956036" y="1956816"/>
            <a:ext cx="68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3276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97552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1828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66104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50380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534656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18932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903208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587484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271760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956036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1640312" y="2258568"/>
            <a:ext cx="914" cy="3246120"/>
          </a:xfrm>
          <a:prstGeom prst="line">
            <a:avLst/>
          </a:prstGeom>
          <a:noFill/>
          <a:ln w="9525">
            <a:solidFill>
              <a:srgbClr val="EC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548640" y="2304288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</a:t>
            </a:r>
            <a:r>
              <a:rPr lang="en-US" sz="1150" b="1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Literature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331720" y="2304288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83864" y="2377440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48640" y="2628900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dictionary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331720" y="2628900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Lakshya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8140" y="2702052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548640" y="2953512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TiNA cleaning + EDA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2331720" y="2953512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Lakshya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52416" y="3026664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48640" y="3278124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+ targets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2331720" y="3278124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 / Lakshya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6692" y="3351276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548640" y="3602736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ensembles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2331720" y="3602736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20968" y="3675888"/>
            <a:ext cx="1258824" cy="178308"/>
          </a:xfrm>
          <a:prstGeom prst="roundRect">
            <a:avLst>
              <a:gd name="adj" fmla="val 41026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548640" y="3927348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2331720" y="3927348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Lakshya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89520" y="4000500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548640" y="4251960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→ CNN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2331720" y="4251960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/ Ganesh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273796" y="4325112"/>
            <a:ext cx="1258824" cy="178308"/>
          </a:xfrm>
          <a:prstGeom prst="roundRect">
            <a:avLst>
              <a:gd name="adj" fmla="val 41026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 txBox="1"/>
          <p:nvPr/>
        </p:nvSpPr>
        <p:spPr>
          <a:xfrm>
            <a:off x="548640" y="4576572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Grad-CAM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2331720" y="4576572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642348" y="4649724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16121F"/>
          </a:solidFill>
          <a:ln w="12700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 txBox="1"/>
          <p:nvPr/>
        </p:nvSpPr>
        <p:spPr>
          <a:xfrm>
            <a:off x="548640" y="4901184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+ draft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2331720" y="4901184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326624" y="4974336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16121F"/>
          </a:solidFill>
          <a:ln w="12700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 txBox="1"/>
          <p:nvPr/>
        </p:nvSpPr>
        <p:spPr>
          <a:xfrm>
            <a:off x="548640" y="5225796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+ talk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2331720" y="5225796"/>
            <a:ext cx="960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1010900" y="5298948"/>
            <a:ext cx="574548" cy="178308"/>
          </a:xfrm>
          <a:prstGeom prst="roundRect">
            <a:avLst>
              <a:gd name="adj" fmla="val 41026"/>
            </a:avLst>
          </a:prstGeom>
          <a:solidFill>
            <a:srgbClr val="16121F"/>
          </a:solidFill>
          <a:ln w="12700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723382" y="5586984"/>
            <a:ext cx="201168" cy="201168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776210" y="5586984"/>
            <a:ext cx="201168" cy="201168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9144762" y="5586984"/>
            <a:ext cx="201168" cy="201168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11197590" y="5586984"/>
            <a:ext cx="201168" cy="201168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48640" y="583387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31520" y="5952744"/>
            <a:ext cx="237744" cy="237744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 txBox="1"/>
          <p:nvPr/>
        </p:nvSpPr>
        <p:spPr>
          <a:xfrm>
            <a:off x="1097280" y="5833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· 30% complete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Features, targets, image prep</a:t>
            </a:r>
          </a:p>
        </p:txBody>
      </p:sp>
      <p:sp>
        <p:nvSpPr>
          <p:cNvPr id="72" name="Shape 70"/>
          <p:cNvSpPr/>
          <p:nvPr/>
        </p:nvSpPr>
        <p:spPr>
          <a:xfrm>
            <a:off x="3364992" y="583387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3547872" y="5952744"/>
            <a:ext cx="237744" cy="237744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 txBox="1"/>
          <p:nvPr/>
        </p:nvSpPr>
        <p:spPr>
          <a:xfrm>
            <a:off x="3913632" y="5833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 · 59% complete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+ anomaly results</a:t>
            </a:r>
          </a:p>
        </p:txBody>
      </p:sp>
      <p:sp>
        <p:nvSpPr>
          <p:cNvPr id="75" name="Shape 73"/>
          <p:cNvSpPr/>
          <p:nvPr/>
        </p:nvSpPr>
        <p:spPr>
          <a:xfrm>
            <a:off x="6181344" y="583387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364224" y="5952744"/>
            <a:ext cx="237744" cy="237744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 txBox="1"/>
          <p:nvPr/>
        </p:nvSpPr>
        <p:spPr>
          <a:xfrm>
            <a:off x="6729984" y="5833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 · 77% complete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results + tuning</a:t>
            </a:r>
          </a:p>
        </p:txBody>
      </p:sp>
      <p:sp>
        <p:nvSpPr>
          <p:cNvPr id="78" name="Shape 76"/>
          <p:cNvSpPr/>
          <p:nvPr/>
        </p:nvSpPr>
        <p:spPr>
          <a:xfrm>
            <a:off x="8997696" y="583387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9180576" y="5952744"/>
            <a:ext cx="237744" cy="237744"/>
          </a:xfrm>
          <a:prstGeom prst="diamond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9546336" y="5833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 · 100% complete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+ presentation</a:t>
            </a:r>
          </a:p>
        </p:txBody>
      </p:sp>
      <p:sp>
        <p:nvSpPr>
          <p:cNvPr id="81" name="Text 79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8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alert-then-inspect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MODULE · PRIMARY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MODULE · SECONDARY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49808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41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TiNA sensors, alarms, maintenance events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47288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441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time windows, chronological splits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44768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2441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/ RF / XGBoost / LightGBM, Isolation Forest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49808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727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screw drive images with surface pitting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4160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447288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4727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resize, CLAHE, stratified split by sequence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416052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144768" y="4343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vs CNN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472744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 / LBP + SVM baseline vs CNN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2537460"/>
            <a:ext cx="274320" cy="914"/>
          </a:xfrm>
          <a:prstGeom prst="line">
            <a:avLst/>
          </a:prstGeom>
          <a:noFill/>
          <a:ln w="22225">
            <a:solidFill>
              <a:srgbClr val="5B2C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926080" y="4823460"/>
            <a:ext cx="274320" cy="914"/>
          </a:xfrm>
          <a:prstGeom prst="line">
            <a:avLst/>
          </a:prstGeom>
          <a:noFill/>
          <a:ln w="22225">
            <a:solidFill>
              <a:srgbClr val="E8912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623560" y="2537460"/>
            <a:ext cx="274320" cy="914"/>
          </a:xfrm>
          <a:prstGeom prst="line">
            <a:avLst/>
          </a:prstGeom>
          <a:noFill/>
          <a:ln w="22225">
            <a:solidFill>
              <a:srgbClr val="5B2C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623560" y="4823460"/>
            <a:ext cx="274320" cy="914"/>
          </a:xfrm>
          <a:prstGeom prst="line">
            <a:avLst/>
          </a:prstGeom>
          <a:noFill/>
          <a:ln w="22225">
            <a:solidFill>
              <a:srgbClr val="E8912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09460" y="3246120"/>
            <a:ext cx="914" cy="868680"/>
          </a:xfrm>
          <a:prstGeom prst="line">
            <a:avLst/>
          </a:prstGeom>
          <a:noFill/>
          <a:ln w="31750">
            <a:solidFill>
              <a:srgbClr val="E8912D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914900" y="3401568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3474720"/>
            <a:ext cx="237744" cy="23774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326380" y="3401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alert → inspect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732520" y="1874520"/>
            <a:ext cx="2907792" cy="3611880"/>
          </a:xfrm>
          <a:prstGeom prst="roundRect">
            <a:avLst>
              <a:gd name="adj" fmla="val 3774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9006840" y="2148840"/>
            <a:ext cx="548640" cy="54864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486" y="2291486"/>
            <a:ext cx="263347" cy="26334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692640" y="2221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+ explain</a:t>
            </a:r>
            <a:endParaRPr lang="en-US" sz="1450" dirty="0"/>
          </a:p>
        </p:txBody>
      </p:sp>
      <p:sp>
        <p:nvSpPr>
          <p:cNvPr id="36" name="Text 32"/>
          <p:cNvSpPr txBox="1"/>
          <p:nvPr/>
        </p:nvSpPr>
        <p:spPr>
          <a:xfrm>
            <a:off x="9006840" y="2926080"/>
            <a:ext cx="2404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recall, F1, PR-AUC · false-negative review · SHAP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F1, recall, confusion matrix · Grad-CAM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alert → visual inspection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8321040" y="2537460"/>
            <a:ext cx="365760" cy="914"/>
          </a:xfrm>
          <a:prstGeom prst="line">
            <a:avLst/>
          </a:prstGeom>
          <a:noFill/>
          <a:ln w="22225">
            <a:solidFill>
              <a:srgbClr val="5B2C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8321040" y="4823460"/>
            <a:ext cx="365760" cy="914"/>
          </a:xfrm>
          <a:prstGeom prst="line">
            <a:avLst/>
          </a:prstGeom>
          <a:noFill/>
          <a:ln w="22225">
            <a:solidFill>
              <a:srgbClr val="E8912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 txBox="1"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are linked at the decision level, not by merging datasets: the sensor model flags when to inspect; the vision module supports what to look for.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42" name="Imag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SENSOR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TiNA [5]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sensor data from an ArcelorMittal mining machine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38M+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675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maint. codes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time-series anomaly detection and maintenance-risk prediction with leakage-safe targets.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160020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VISION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defect images [6]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screw drive spindles, KIT (2021)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108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RGB images of surface pitting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wear-development sequences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features vs CNN classification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Pitting also affects mining gears and bearings [10]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600200"/>
            <a:ext cx="2496312" cy="1993392"/>
          </a:xfrm>
          <a:prstGeom prst="roundRect">
            <a:avLst>
              <a:gd name="adj" fmla="val 550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37260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057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SCANIA Component X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25603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Heavy-duty truck time series. Optional fallback / validation for time-to-event prediction.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3721608"/>
            <a:ext cx="2496312" cy="1993392"/>
          </a:xfrm>
          <a:prstGeom prst="roundRect">
            <a:avLst>
              <a:gd name="adj" fmla="val 5505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937260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41788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SCANIA APS Failure [4]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468172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heavy-truck failure data. Optional benchmark for imbalanced, cost-sensitive classification.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are not merged: sensor and image data come from different equipment, so the two modules are connected only at the decision level.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31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DATA ML-READY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9824" cy="3520440"/>
          </a:xfrm>
          <a:prstGeom prst="roundRect">
            <a:avLst>
              <a:gd name="adj" fmla="val 311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66928" cy="566928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836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· TiNA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2432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560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time range that keeps all events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3580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 and invalid readings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47288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3383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handle missing values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58768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3794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scaling (TiNA is pre-normalized)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34440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rolling windows and event-history features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81728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3444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risk in the next 1, 3 or 6 hours (set after EDA)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190488" y="1600200"/>
            <a:ext cx="5449824" cy="3520440"/>
          </a:xfrm>
          <a:prstGeom prst="roundRect">
            <a:avLst>
              <a:gd name="adj" fmla="val 311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2"/>
          <p:cNvSpPr/>
          <p:nvPr/>
        </p:nvSpPr>
        <p:spPr>
          <a:xfrm>
            <a:off x="6464808" y="1810512"/>
            <a:ext cx="566928" cy="5669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209" y="1957913"/>
            <a:ext cx="272125" cy="27212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96328" y="18836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data · images</a:t>
            </a:r>
            <a:endParaRPr lang="en-US" sz="18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624328"/>
            <a:ext cx="219456" cy="219456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876288" y="2560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image integrity and labels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035808"/>
            <a:ext cx="219456" cy="219456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876288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and normalize inputs</a:t>
            </a:r>
            <a:endParaRPr lang="en-US" sz="13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447288"/>
            <a:ext cx="219456" cy="219456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876288" y="3383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Denoise and enhance contrast (CLAHE)</a:t>
            </a:r>
            <a:endParaRPr lang="en-US" sz="13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858768"/>
            <a:ext cx="219456" cy="219456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876288" y="3794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edges and HOG / LBP texture features</a:t>
            </a:r>
            <a:endParaRPr lang="en-US" sz="13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270248"/>
            <a:ext cx="219456" cy="219456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876288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the training set only</a:t>
            </a:r>
            <a:endParaRPr lang="en-US" sz="13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681728"/>
            <a:ext cx="219456" cy="219456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876288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CNN input pipeline</a:t>
            </a:r>
            <a:endParaRPr lang="en-US" sz="1300" dirty="0"/>
          </a:p>
        </p:txBody>
      </p:sp>
      <p:sp>
        <p:nvSpPr>
          <p:cNvPr id="36" name="Shape 20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1"/>
          <p:cNvSpPr/>
          <p:nvPr/>
        </p:nvSpPr>
        <p:spPr>
          <a:xfrm>
            <a:off x="777240" y="5449824"/>
            <a:ext cx="566928" cy="566928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641" y="5597225"/>
            <a:ext cx="272125" cy="27212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1554480" y="53035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guard 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train / validation / test splits  ·  no future data in features  ·  no resampling before splitting  ·  image wear sequences kept in one split</a:t>
            </a:r>
            <a:endParaRPr lang="en-US" sz="1300" dirty="0"/>
          </a:p>
        </p:txBody>
      </p:sp>
      <p:sp>
        <p:nvSpPr>
          <p:cNvPr id="40" name="Text 23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41" name="Text 24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42" name="Image 15" descr="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DON’T GUESS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risk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classification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(baseline)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16121F"/>
          </a:solidFill>
          <a:ln w="12700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labels are limited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One-Class SVM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 (if feasible)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1995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defects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90982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pitting classification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27432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features + SVM / RF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CNN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(if feasible)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77240" y="5394960"/>
            <a:ext cx="585216" cy="585216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96" y="554711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52303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layer 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feature importance for sensor models [7]  ·  Grad-CAM heatmaps for CNN predictions [8]  ·  final choice based on validation results, not a single black box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28" name="Image 4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SUCCESS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2237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task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metrics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Maintenance-risk prediction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Recall, F1, PR-AUC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a real failure is costly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detection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Precision, recall, anomaly 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 abnormal patterns before failure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defect detection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F1, recall, confusion matrix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Validates inspection quality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 / Grad-CAM outputs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why a decision was made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645920"/>
            <a:ext cx="3593592" cy="1325880"/>
          </a:xfrm>
          <a:prstGeom prst="roundRect">
            <a:avLst>
              <a:gd name="adj" fmla="val 8276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275320" y="1874520"/>
            <a:ext cx="475488" cy="475488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947" y="1998147"/>
            <a:ext cx="228234" cy="2282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15400" y="18470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validation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15400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splits for TiNA; the model never trains on future records.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046720" y="3127248"/>
            <a:ext cx="3593592" cy="1325880"/>
          </a:xfrm>
          <a:prstGeom prst="roundRect">
            <a:avLst>
              <a:gd name="adj" fmla="val 8276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8275320" y="3355848"/>
            <a:ext cx="475488" cy="47548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947" y="3479475"/>
            <a:ext cx="228234" cy="228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33284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over accuracy</a:t>
            </a:r>
            <a:endParaRPr lang="en-US" sz="1400" dirty="0"/>
          </a:p>
        </p:txBody>
      </p:sp>
      <p:sp>
        <p:nvSpPr>
          <p:cNvPr id="4" name="Text 9"/>
          <p:cNvSpPr txBox="1"/>
          <p:nvPr/>
        </p:nvSpPr>
        <p:spPr>
          <a:xfrm>
            <a:off x="8915400" y="36758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secondary; false negatives and raw-vs-engineered feature gains are reported.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46720" y="4608576"/>
            <a:ext cx="3593592" cy="1325880"/>
          </a:xfrm>
          <a:prstGeom prst="roundRect">
            <a:avLst>
              <a:gd name="adj" fmla="val 8276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275320" y="4837176"/>
            <a:ext cx="475488" cy="475488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947" y="4960803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5400" y="4809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on student hardware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915400" y="5157216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 reported alongside training cost and runtime.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22" name="Image 3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WILL SHOW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 alert → inspect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SENSOR RISK ALERT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risk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next horizon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23317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8912D"/>
          </a:solidFill>
          <a:ln w="9525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SHAP features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65960" y="3712464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4069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Feature_44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4123944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7A4BA8"/>
          </a:solidFill>
          <a:ln w="12700">
            <a:solidFill>
              <a:srgbClr val="7A4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4480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Feature_07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65960" y="4535424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7A4BA8"/>
          </a:solidFill>
          <a:ln w="12700">
            <a:solidFill>
              <a:srgbClr val="7A4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component inspection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33872" y="3410712"/>
            <a:ext cx="530352" cy="530352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520440"/>
            <a:ext cx="310896" cy="31089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73952" y="16002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FDF1E2"/>
          </a:solidFill>
          <a:ln w="9525">
            <a:solidFill>
              <a:srgbClr val="FDF1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6748272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VISUAL INSPECTION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48272" y="2194560"/>
            <a:ext cx="2194560" cy="2194560"/>
          </a:xfrm>
          <a:prstGeom prst="rect">
            <a:avLst/>
          </a:prstGeom>
          <a:solidFill>
            <a:srgbClr val="5E5A63"/>
          </a:solidFill>
          <a:ln w="12700">
            <a:solidFill>
              <a:srgbClr val="5E5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748272" y="219456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748272" y="256032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748272" y="292608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748272" y="329184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748272" y="365760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748272" y="4023360"/>
            <a:ext cx="2194560" cy="182880"/>
          </a:xfrm>
          <a:prstGeom prst="rect">
            <a:avLst/>
          </a:prstGeom>
          <a:solidFill>
            <a:srgbClr val="6E6A73"/>
          </a:solidFill>
          <a:ln w="12700">
            <a:solidFill>
              <a:srgbClr val="6E6A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360920" y="2788920"/>
            <a:ext cx="1143000" cy="960120"/>
          </a:xfrm>
          <a:prstGeom prst="ellipse">
            <a:avLst/>
          </a:prstGeom>
          <a:solidFill>
            <a:srgbClr val="F2C14E">
              <a:alpha val="55000"/>
            </a:srgbClr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589520" y="2971800"/>
            <a:ext cx="685800" cy="566928"/>
          </a:xfrm>
          <a:prstGeom prst="ellipse">
            <a:avLst/>
          </a:prstGeom>
          <a:solidFill>
            <a:srgbClr val="E8612D">
              <a:alpha val="70000"/>
            </a:srgbClr>
          </a:solidFill>
          <a:ln w="12700">
            <a:solidFill>
              <a:srgbClr val="E861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7772400" y="3127248"/>
            <a:ext cx="320040" cy="274320"/>
          </a:xfrm>
          <a:prstGeom prst="ellipse">
            <a:avLst/>
          </a:prstGeom>
          <a:solidFill>
            <a:srgbClr val="B8202A">
              <a:alpha val="85000"/>
            </a:srgbClr>
          </a:solidFill>
          <a:ln w="12700">
            <a:solidFill>
              <a:srgbClr val="B820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6748272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heatmap (mock)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Pitting detected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40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confidence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18972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OpenCV: edges, texture, contrast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explanation: Grad-CAM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6748272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55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priority High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values only. The demo uses representative images from a separate dataset, not photos of the TiNA machine.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41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limitations &amp; ethics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96112" y="2761488"/>
            <a:ext cx="109728" cy="1097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1143000" y="26517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TiNA maintenance-risk prediction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3419856"/>
            <a:ext cx="109728" cy="1097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143000" y="33101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" y="4078224"/>
            <a:ext cx="109728" cy="1097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1143000" y="3968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/ CNN defect classification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6112" y="4736592"/>
            <a:ext cx="109728" cy="1097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1143000" y="46268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Grad-CAM and demo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6112" y="5394960"/>
            <a:ext cx="109728" cy="1097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1143000" y="5285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reports, final report, talk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0" y="160020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197144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· stretch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645152" y="2761488"/>
            <a:ext cx="109728" cy="109728"/>
          </a:xfrm>
          <a:prstGeom prst="ellipse">
            <a:avLst/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4892040" y="26517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 in a mine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645152" y="3419856"/>
            <a:ext cx="109728" cy="109728"/>
          </a:xfrm>
          <a:prstGeom prst="ellipse">
            <a:avLst/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 txBox="1"/>
          <p:nvPr/>
        </p:nvSpPr>
        <p:spPr>
          <a:xfrm>
            <a:off x="4892040" y="33101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Saskatchewan mine data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45152" y="4078224"/>
            <a:ext cx="109728" cy="109728"/>
          </a:xfrm>
          <a:prstGeom prst="ellipse">
            <a:avLst/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4892040" y="3968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Safety-certified decisions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645152" y="4736592"/>
            <a:ext cx="109728" cy="109728"/>
          </a:xfrm>
          <a:prstGeom prst="ellipse">
            <a:avLst/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 txBox="1"/>
          <p:nvPr/>
        </p:nvSpPr>
        <p:spPr>
          <a:xfrm>
            <a:off x="4892040" y="46268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RUL modelling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645152" y="5394960"/>
            <a:ext cx="109728" cy="109728"/>
          </a:xfrm>
          <a:prstGeom prst="ellipse">
            <a:avLst/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 txBox="1"/>
          <p:nvPr/>
        </p:nvSpPr>
        <p:spPr>
          <a:xfrm>
            <a:off x="4892040" y="5285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LSTM / GRU and data fusion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046720" y="160020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1971446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00684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ethics</a:t>
            </a:r>
            <a:endParaRPr lang="en-US" sz="1700" dirty="0"/>
          </a:p>
        </p:txBody>
      </p:sp>
      <p:sp>
        <p:nvSpPr>
          <p:cNvPr id="36" name="Shape 31"/>
          <p:cNvSpPr/>
          <p:nvPr/>
        </p:nvSpPr>
        <p:spPr>
          <a:xfrm>
            <a:off x="8394192" y="2761488"/>
            <a:ext cx="109728" cy="1097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 txBox="1"/>
          <p:nvPr/>
        </p:nvSpPr>
        <p:spPr>
          <a:xfrm>
            <a:off x="8641080" y="26517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and image data come from different equipment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394192" y="3419856"/>
            <a:ext cx="109728" cy="1097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 txBox="1"/>
          <p:nvPr/>
        </p:nvSpPr>
        <p:spPr>
          <a:xfrm>
            <a:off x="8641080" y="33101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TiNA features limit physical interpretation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394192" y="4078224"/>
            <a:ext cx="109728" cy="1097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 txBox="1"/>
          <p:nvPr/>
        </p:nvSpPr>
        <p:spPr>
          <a:xfrm>
            <a:off x="8641080" y="39684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events, imbalance and dataset shift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394192" y="4736592"/>
            <a:ext cx="109728" cy="1097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 txBox="1"/>
          <p:nvPr/>
        </p:nvSpPr>
        <p:spPr>
          <a:xfrm>
            <a:off x="8641080" y="46268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only; licences and citations respected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8394192" y="5394960"/>
            <a:ext cx="109728" cy="10972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 txBox="1"/>
          <p:nvPr/>
        </p:nvSpPr>
        <p:spPr>
          <a:xfrm>
            <a:off x="8641080" y="52852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prototype, not production-ready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48" name="Image 3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914400" cy="91440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 Mishra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· sensor ML lead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19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modelling, evaluation, report integration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W1, W5–W6; supports W4, W9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914400" cy="914400"/>
          </a:xfrm>
          <a:prstGeom prst="ellipse">
            <a:avLst/>
          </a:prstGeom>
          <a:solidFill>
            <a:srgbClr val="16121F"/>
          </a:solidFill>
          <a:ln w="12700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720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Lakshya Sharma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anomaly detection lead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319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EDA, feature engineering, anomaly detection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W2–W3, W7; supports W4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3EEF9"/>
          </a:solidFill>
          <a:ln w="9525">
            <a:solidFill>
              <a:srgbClr val="F3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21040" y="1874520"/>
            <a:ext cx="914400" cy="91440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3210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Patel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lead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3192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/ CNN experiments, visual results, testing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W8–W9; supports demo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6121F"/>
          </a:solidFill>
          <a:ln w="9525">
            <a:solidFill>
              <a:srgbClr val="161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5B2C87"/>
          </a:solidFill>
          <a:ln w="12700">
            <a:solidFill>
              <a:srgbClr val="5B2C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5754319"/>
            <a:ext cx="241402" cy="24140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46304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understands the full data flow, model choices, metrics and limitations, and can answer technical questions.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37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righ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16121F">
              <a:alpha val="45000"/>
            </a:srgbClr>
          </a:solidFill>
          <a:ln w="12700">
            <a:solidFill>
              <a:srgbClr val="1612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18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0253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core AI/ML capstone on predictive maintenance for mining equipment.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157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311810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TiNA gives a real mining-machine time-series foundation for risk and anomaly modelling.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313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8496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4233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alerts trigger visual inspection, explained with SHAP and Grad-CAM.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9469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965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3492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Leakage-safe, reproducible pipeline; separate data sources stated as a limitation.</a:t>
            </a:r>
            <a:endParaRPr lang="en-US" sz="1350" dirty="0"/>
          </a:p>
        </p:txBody>
      </p:sp>
      <p:sp>
        <p:nvSpPr>
          <p:cNvPr id="101" name="Page Number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40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T. P. Carvalho, F. A. A. M. N. Soares, R. Vita, R. da P. Francisco, J. P. T. V. Basto, and S. G. S. Alcalá, “A systematic literature review of machine learning methods applied to predictive maintenance,” Computers &amp; Industrial Engineering, vol. 137, Art. no. 106024, 2019, doi: 10.1016/j.cie.2019.106024.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L. Rojas, Á. Peña, and J. García, “AI-driven predictive maintenance in mining: A systematic literature review on fault detection, digital twins, and intelligent asset management,” Applied Sciences, vol. 15, no. 6, Art. no. 3337, 2025, doi: 10.3390/app15063337.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G. Pang, C. Shen, L. Cao, and A. van den Hengel, “Deep learning for anomaly detection: A review,” ACM Computing Surveys, vol. 54, no. 2, Art. no. 38, 2021, doi: 10.1145/3439950.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Scania CV AB, “APS Failure at Scania Trucks,” UCI Machine Learning Repository, 2016, doi: 10.24432/C51S51.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I. Aguilera-Martos, D. López, M. García-Barzana, J. Luengo, and F. Herrera, “Time-series Industrial Anomaly (TiNA) dataset,” DaSCI, 2022. [Online]. Available: https://github.com/ari-dasci/OD-TINA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199632" y="1508760"/>
            <a:ext cx="5440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T. Schlagenhauf and M. Landwehr, “Industrial machine tool component surface defect dataset,” Data in Brief, vol. 39, Art. no. 107643, 2021, doi: 10.1016/j.dib.2021.107643.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S. M. Lundberg and S.-I. Lee, “A unified approach to interpreting model predictions,” in Proc. NeurIPS, vol. 30, 2017.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R. R. Selvaraju, M. Cogswell, A. Das, R. Vedantam, D. Parikh, and D. Batra, “Grad-CAM: Visual explanations from deep networks via gradient-based localization,” in Proc. IEEE ICCV, 2017, pp. 618–626, doi: 10.1109/ICCV.2017.74.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T. Chen and C. Guestrin, “XGBoost: A scalable tree boosting system,” in Proc. 22nd ACM SIGKDD, 2016, pp. 785–794, doi: 10.1145/2939672.2939785.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F. Sadeghi, B. Jalalahmadi, T. S. Slack, N. Raje, and N. K. Arakere, “A review of rolling contact fatigue,” Journal of Tribology, vol. 131, no. 4, Art. no. 041403, 2009, doi: 10.1115/1.3209132.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613 · Capstone Project Proposal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336792"/>
            <a:ext cx="8229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21F">
              <a:alpha val="70000"/>
            </a:srgbClr>
          </a:solidFill>
          <a:ln w="12700">
            <a:solidFill>
              <a:srgbClr val="1612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9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Ganesh Mishra  ·  Lakshya Sharma  ·  Sagar Patel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760720"/>
            <a:ext cx="1325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824728"/>
            <a:ext cx="1051560" cy="539496"/>
          </a:xfrm>
          <a:prstGeom prst="rect">
            <a:avLst/>
          </a:prstGeom>
        </p:spPr>
      </p:pic>
      <p:sp>
        <p:nvSpPr>
          <p:cNvPr id="102" name="Page Number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2376</Words>
  <Application>Microsoft Office PowerPoint</Application>
  <PresentationFormat>Widescreen</PresentationFormat>
  <Paragraphs>412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Ganesh Mishra; Lakshya Sharma</dc:creator>
  <cp:lastModifiedBy>Mishra, Ganesh</cp:lastModifiedBy>
  <cp:revision>2</cp:revision>
  <dcterms:created xsi:type="dcterms:W3CDTF">2026-09-16T20:01:16Z</dcterms:created>
  <dcterms:modified xsi:type="dcterms:W3CDTF">2026-09-18T05:34:58Z</dcterms:modified>
</cp:coreProperties>
</file>